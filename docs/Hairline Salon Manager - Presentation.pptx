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>
                <a:solidFill>
                  <a:srgbClr val="8A7F6F"/>
                </a:solidFill>
                <a:latin typeface="Segoe UI Light"/>
              </a:rPr>
              <a:t>HAIR</a:t>
            </a:r>
            <a:r>
              <a:rPr sz="6600">
                <a:solidFill>
                  <a:srgbClr val="1A1816"/>
                </a:solidFill>
                <a:latin typeface="Segoe UI Light"/>
              </a:rPr>
              <a:t>|</a:t>
            </a:r>
            <a:r>
              <a:rPr sz="66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200400"/>
            <a:ext cx="6583680" cy="9525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8229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0">
                <a:solidFill>
                  <a:srgbClr val="1A1816"/>
                </a:solidFill>
                <a:latin typeface="Segoe UI Light"/>
              </a:rPr>
              <a:t>Salon Manager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7A7264"/>
                </a:solidFill>
                <a:latin typeface="Segoe UI"/>
              </a:rPr>
              <a:t>A working prototype, built on eleven years of Hairline's own trading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92040"/>
            <a:ext cx="1188720" cy="36576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97433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E6455"/>
                </a:solidFill>
                <a:latin typeface="Segoe UI"/>
              </a:rPr>
              <a:t>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4892040"/>
            <a:ext cx="1188720" cy="36576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497433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E6455"/>
                </a:solidFill>
                <a:latin typeface="Segoe UI"/>
              </a:rPr>
              <a:t>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892040"/>
            <a:ext cx="1600200" cy="36576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4974336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E6455"/>
                </a:solidFill>
                <a:latin typeface="Segoe UI"/>
              </a:rPr>
              <a:t>Live prototype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7264"/>
                </a:solidFill>
                <a:latin typeface="Segoe UI"/>
              </a:rPr>
              <a:t>Prepared for the owner of Hairline  Â·  Shop 30, Stoneridge Centre, Greenstone Park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>
                <a:solidFill>
                  <a:srgbClr val="1A1816"/>
                </a:solidFill>
                <a:latin typeface="Segoe UI Light"/>
              </a:rPr>
              <a:t>Replace MySalon with something the team will actually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5486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350">
                <a:solidFill>
                  <a:srgbClr val="8A7F6F"/>
                </a:solidFill>
                <a:latin typeface="Segoe UI"/>
              </a:rPr>
              <a:t>—   </a:t>
            </a:r>
            <a:r>
              <a:rPr sz="1350" b="1">
                <a:solidFill>
                  <a:srgbClr val="1A1816"/>
                </a:solidFill>
                <a:latin typeface="Segoe UI"/>
              </a:rPr>
              <a:t>Cover the whole salon</a:t>
            </a:r>
            <a:r>
              <a:rPr sz="1350">
                <a:solidFill>
                  <a:srgbClr val="3A362F"/>
                </a:solidFill>
                <a:latin typeface="Segoe UI"/>
              </a:rPr>
              <a:t> — but keep it simple. No overkill.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350">
                <a:solidFill>
                  <a:srgbClr val="8A7F6F"/>
                </a:solidFill>
                <a:latin typeface="Segoe UI"/>
              </a:rPr>
              <a:t>—   </a:t>
            </a:r>
            <a:r>
              <a:rPr sz="1350" b="1">
                <a:solidFill>
                  <a:srgbClr val="1A1816"/>
                </a:solidFill>
                <a:latin typeface="Segoe UI"/>
              </a:rPr>
              <a:t>Focus on the core:</a:t>
            </a:r>
            <a:r>
              <a:rPr sz="1350">
                <a:solidFill>
                  <a:srgbClr val="3A362F"/>
                </a:solidFill>
                <a:latin typeface="Segoe UI"/>
              </a:rPr>
              <a:t> invoicing, client history, pricing, stock, staff.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350">
                <a:solidFill>
                  <a:srgbClr val="8A7F6F"/>
                </a:solidFill>
                <a:latin typeface="Segoe UI"/>
              </a:rPr>
              <a:t>—   </a:t>
            </a:r>
            <a:r>
              <a:rPr sz="1350" b="1">
                <a:solidFill>
                  <a:srgbClr val="1A1816"/>
                </a:solidFill>
                <a:latin typeface="Segoe UI"/>
              </a:rPr>
              <a:t>Win buy-in</a:t>
            </a:r>
            <a:r>
              <a:rPr sz="1350">
                <a:solidFill>
                  <a:srgbClr val="3A362F"/>
                </a:solidFill>
                <a:latin typeface="Segoe UI"/>
              </a:rPr>
              <a:t> from reception, the stylists and the owner.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350">
                <a:solidFill>
                  <a:srgbClr val="8A7F6F"/>
                </a:solidFill>
                <a:latin typeface="Segoe UI"/>
              </a:rPr>
              <a:t>—   </a:t>
            </a:r>
            <a:r>
              <a:rPr sz="1350" b="1">
                <a:solidFill>
                  <a:srgbClr val="1A1816"/>
                </a:solidFill>
                <a:latin typeface="Segoe UI"/>
              </a:rPr>
              <a:t>Build it properly</a:t>
            </a:r>
            <a:r>
              <a:rPr sz="1350">
                <a:solidFill>
                  <a:srgbClr val="3A362F"/>
                </a:solidFill>
                <a:latin typeface="Segoe UI"/>
              </a:rPr>
              <a:t> — this could become a product for other salons.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377440"/>
            <a:ext cx="4434840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2651760"/>
            <a:ext cx="3794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1" spc="120">
                <a:solidFill>
                  <a:srgbClr val="8A7F6F"/>
                </a:solidFill>
                <a:latin typeface="Segoe UI"/>
              </a:rPr>
              <a:t>THE TEST WE SET OURSELVES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0">
                <a:solidFill>
                  <a:srgbClr val="1A1816"/>
                </a:solidFill>
                <a:latin typeface="Segoe UI Light"/>
              </a:rPr>
              <a:t>The new till must be faster than the old one.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Every study of salon software adoption says the same thing: if checkout slows down, the team stops using it — whatever else the system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FFFFFF"/>
                </a:solidFill>
                <a:latin typeface="Segoe UI Light"/>
              </a:rPr>
              <a:t>|</a:t>
            </a:r>
            <a:r>
              <a:rPr sz="1500">
                <a:solidFill>
                  <a:srgbClr val="FFFFFF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3A898"/>
                </a:solidFill>
                <a:latin typeface="Segoe UI"/>
              </a:rPr>
              <a:t>BEFORE DESIGNING ANYTHING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Segoe UI Light"/>
              </a:rPr>
              <a:t>We restored the salon's database
and read eleven years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8412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CFC9BD"/>
                </a:solidFill>
                <a:latin typeface="Segoe UI"/>
              </a:rPr>
              <a:t>Not a workshop, not assumptions — the actual record of how Hairline trades, taken from the July 2026 MySalon backup.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2423160" cy="1097280"/>
          </a:xfrm>
          <a:prstGeom prst="roundRect">
            <a:avLst>
              <a:gd name="adj" fmla="val 3000"/>
            </a:avLst>
          </a:prstGeom>
          <a:solidFill>
            <a:srgbClr val="2421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61104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</a:rPr>
              <a:t>90,183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INVOICES SINCE 2015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4114800"/>
            <a:ext cx="2423160" cy="1097280"/>
          </a:xfrm>
          <a:prstGeom prst="roundRect">
            <a:avLst>
              <a:gd name="adj" fmla="val 3000"/>
            </a:avLst>
          </a:prstGeom>
          <a:solidFill>
            <a:srgbClr val="2421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261104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</a:rPr>
              <a:t>8,645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ACTIVE CLIENTS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114800"/>
            <a:ext cx="2423160" cy="1097280"/>
          </a:xfrm>
          <a:prstGeom prst="roundRect">
            <a:avLst>
              <a:gd name="adj" fmla="val 3000"/>
            </a:avLst>
          </a:prstGeom>
          <a:solidFill>
            <a:srgbClr val="2421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4261104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</a:rPr>
              <a:t>R7.5m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REVENUE IN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4114800"/>
            <a:ext cx="2423160" cy="1097280"/>
          </a:xfrm>
          <a:prstGeom prst="roundRect">
            <a:avLst>
              <a:gd name="adj" fmla="val 3000"/>
            </a:avLst>
          </a:prstGeom>
          <a:solidFill>
            <a:srgbClr val="2421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4261104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</a:rPr>
              <a:t>92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DATABASE TABLES 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357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>
                <a:solidFill>
                  <a:srgbClr val="1A1816"/>
                </a:solidFill>
                <a:latin typeface="Segoe UI Light"/>
              </a:rPr>
              <a:t>The salon told us what to build — and what to leave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4C7A5A"/>
                </a:solidFill>
                <a:latin typeface="Segoe UI"/>
              </a:rPr>
              <a:t>Used every single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788920"/>
            <a:ext cx="4846320" cy="9525"/>
          </a:xfrm>
          <a:prstGeom prst="rect">
            <a:avLst/>
          </a:prstGeom>
          <a:solidFill>
            <a:srgbClr val="4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Invoicing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92608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90,183 invoices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64408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4670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Cash-up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3346704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3,841 daily counts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685032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76732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Stock takes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767328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49,663 items counted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05656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Clocking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4187952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11,069 records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526280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0857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Tips &amp; advances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4608576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4,478 records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946904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24688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A0433A"/>
                </a:solidFill>
                <a:latin typeface="Segoe UI"/>
              </a:rPr>
              <a:t>Never used in 11 years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788920"/>
            <a:ext cx="4846320" cy="9525"/>
          </a:xfrm>
          <a:prstGeom prst="rect">
            <a:avLst/>
          </a:prstGeom>
          <a:solidFill>
            <a:srgbClr val="A0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292608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Payroll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92608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0 records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264408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34670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Loyalty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346704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0 records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3685032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376732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Packages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767328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0 records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105656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418795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Bank reconciliation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4187952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0 records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526280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460857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Appointment diary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4608576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48 in 11 years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946904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A7264"/>
                </a:solidFill>
                <a:latin typeface="Segoe UI"/>
              </a:rPr>
              <a:t>Every unused feature we leave out is a screen reception never has to learn.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FOUR THINGS THE DATA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>
                <a:solidFill>
                  <a:srgbClr val="1A1816"/>
                </a:solidFill>
                <a:latin typeface="Segoe UI Light"/>
              </a:rPr>
              <a:t>Findings the salon can act on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24231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670048"/>
            <a:ext cx="2011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850" b="1" spc="100">
                <a:solidFill>
                  <a:srgbClr val="8A7F6F"/>
                </a:solidFill>
                <a:latin typeface="Segoe UI"/>
              </a:rPr>
              <a:t>01 — STOCK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A0433A"/>
                </a:solidFill>
                <a:latin typeface="Segoe UI"/>
              </a:rPr>
              <a:t>1,350 lines show
negative stock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Sales rung up against stock never received. Nearly 40% of the stock file cannot be trusted until it is counted.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468880"/>
            <a:ext cx="24231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2670048"/>
            <a:ext cx="2011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850" b="1" spc="100">
                <a:solidFill>
                  <a:srgbClr val="8A7F6F"/>
                </a:solidFill>
                <a:latin typeface="Segoe UI"/>
              </a:rPr>
              <a:t>02 — CLIENTS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A8762A"/>
                </a:solidFill>
                <a:latin typeface="Segoe UI"/>
              </a:rPr>
              <a:t>758 clients have
quietly lapsed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They visited within the year but not in 90 days. The cheapest revenue in the salon is a message to this list.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468880"/>
            <a:ext cx="24231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2670048"/>
            <a:ext cx="2011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850" b="1" spc="100">
                <a:solidFill>
                  <a:srgbClr val="8A7F6F"/>
                </a:solidFill>
                <a:latin typeface="Segoe UI"/>
              </a:rPr>
              <a:t>03 — PAYMENTS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0A86A8"/>
                </a:solidFill>
                <a:latin typeface="Segoe UI"/>
              </a:rPr>
              <a:t>89% of takings
are on card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Cash is barely 5%. The cash-up ritual guards a small and shrinking share of the money.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2468880"/>
            <a:ext cx="24231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42248" y="2670048"/>
            <a:ext cx="2011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850" b="1" spc="100">
                <a:solidFill>
                  <a:srgbClr val="8A7F6F"/>
                </a:solidFill>
                <a:latin typeface="Segoe UI"/>
              </a:rPr>
              <a:t>04 — MARKETING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A8762A"/>
                </a:solidFill>
                <a:latin typeface="Segoe UI"/>
              </a:rPr>
              <a:t>Only 8% have a
birthday on file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718 of 8,645. Just 76 have an e-mail address, but 8,603 have a phone number — so SMS and WhatsApp, never e-mail.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FFFFFF"/>
                </a:solidFill>
                <a:latin typeface="Segoe UI Light"/>
              </a:rPr>
              <a:t>|</a:t>
            </a:r>
            <a:r>
              <a:rPr sz="1500">
                <a:solidFill>
                  <a:srgbClr val="FFFFFF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3A898"/>
                </a:solidFill>
                <a:latin typeface="Segoe UI"/>
              </a:rPr>
              <a:t>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3600">
                <a:solidFill>
                  <a:srgbClr val="FFFFFF"/>
                </a:solidFill>
                <a:latin typeface="Segoe UI Light"/>
              </a:rPr>
              <a:t>Build the </a:t>
            </a:r>
            <a:r>
              <a:rPr sz="3600">
                <a:solidFill>
                  <a:srgbClr val="B3A898"/>
                </a:solidFill>
                <a:latin typeface="Segoe UI Light"/>
              </a:rPr>
              <a:t>daily essentials</a:t>
            </a:r>
            <a:r>
              <a:rPr sz="3600">
                <a:solidFill>
                  <a:srgbClr val="FFFFFF"/>
                </a:solidFill>
                <a:latin typeface="Segoe UI Light"/>
              </a:rPr>
              <a:t> exceptionally well.</a:t>
            </a:r>
          </a:p>
          <a:p>
            <a:pPr>
              <a:lnSpc>
                <a:spcPct val="112000"/>
              </a:lnSpc>
            </a:pPr>
            <a:r>
              <a:rPr sz="3600">
                <a:solidFill>
                  <a:srgbClr val="FFFFFF"/>
                </a:solidFill>
                <a:latin typeface="Segoe UI Light"/>
              </a:rPr>
              <a:t>Leave out everything the salon has already voted against.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931920"/>
            <a:ext cx="10515600" cy="9525"/>
          </a:xfrm>
          <a:prstGeom prst="rect">
            <a:avLst/>
          </a:prstGeom>
          <a:solidFill>
            <a:srgbClr val="3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4343400"/>
            <a:ext cx="1675180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16751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Invoicing &amp; cash-up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44444" y="4343400"/>
            <a:ext cx="1514246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44444" y="4443984"/>
            <a:ext cx="15142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Clients &amp; history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4994" y="4343400"/>
            <a:ext cx="1353311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4994" y="4443984"/>
            <a:ext cx="13533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Pricing &amp; menus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4609" y="4343400"/>
            <a:ext cx="1192377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4609" y="4443984"/>
            <a:ext cx="11923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Stock control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43290" y="4343400"/>
            <a:ext cx="1433779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290" y="4443984"/>
            <a:ext cx="14337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Staff portfolios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3373" y="4343400"/>
            <a:ext cx="1433779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23373" y="4443984"/>
            <a:ext cx="14337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Client messaging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910328"/>
            <a:ext cx="1192377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10912"/>
            <a:ext cx="11923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A light diary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357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WHAT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Same rituals, twenty years of technology later.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49377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6060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140">
                <a:solidFill>
                  <a:srgbClr val="7A7264"/>
                </a:solidFill>
                <a:latin typeface="Segoe UI"/>
              </a:rPr>
              <a:t>MYSALON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999232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One PC in the salon. If it dies, trading stops.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SQL Server 2005 under the hood.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Price menus retyped in Word every year.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Figures only visible at reception.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Dated SMS; no WhatsApp.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79476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8A7F6F"/>
                </a:solidFill>
                <a:latin typeface="Segoe UI"/>
              </a:rPr>
              <a:t>â†’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77440"/>
            <a:ext cx="4892040" cy="3291840"/>
          </a:xfrm>
          <a:prstGeom prst="roundRect">
            <a:avLst>
              <a:gd name="adj" fmla="val 3000"/>
            </a:avLst>
          </a:prstGeom>
          <a:solidFill>
            <a:srgbClr val="1A1816"/>
          </a:solidFill>
          <a:ln w="9525">
            <a:solidFill>
              <a:srgbClr val="1A18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26060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140">
                <a:solidFill>
                  <a:srgbClr val="B3A898"/>
                </a:solidFill>
                <a:latin typeface="Segoe UI"/>
              </a:rPr>
              <a:t>SALON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2999232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Cloud-hosted, with a till that keeps working offline.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A modern web app on any device.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Client menu generated from live prices.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Takings on the owner's phone, anywhere.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SMS now, WhatsApp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FFFFFF"/>
                </a:solidFill>
                <a:latin typeface="Segoe UI Light"/>
              </a:rPr>
              <a:t>|</a:t>
            </a:r>
            <a:r>
              <a:rPr sz="1500">
                <a:solidFill>
                  <a:srgbClr val="FFFFFF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3A898"/>
                </a:solidFill>
                <a:latin typeface="Segoe UI"/>
              </a:rPr>
              <a:t>NOT A MOCK-UP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>
                <a:solidFill>
                  <a:srgbClr val="FFFFFF"/>
                </a:solidFill>
                <a:latin typeface="Segoe UI Light"/>
              </a:rPr>
              <a:t>We built it. It's </a:t>
            </a:r>
            <a:r>
              <a:rPr sz="3000">
                <a:solidFill>
                  <a:srgbClr val="B3A898"/>
                </a:solidFill>
                <a:latin typeface="Segoe UI Light"/>
              </a:rPr>
              <a:t>running</a:t>
            </a:r>
            <a:r>
              <a:rPr sz="3000">
                <a:solidFill>
                  <a:srgbClr val="FFFFFF"/>
                </a:solidFill>
                <a:latin typeface="Segoe UI Light"/>
              </a:rPr>
              <a:t>, on the salon's own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CFC9BD"/>
                </a:solidFill>
                <a:latin typeface="Segoe UI"/>
              </a:rPr>
              <a:t>Eight working screens loaded with real services, real prices, real stock and eleven years of real visit patterns. Client names are anonymised; nothing else is invented.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FFFFFF"/>
                </a:solidFill>
                <a:latin typeface="Segoe UI Light"/>
              </a:rPr>
              <a:t>750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CLIENT HISTORIES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448056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FFFFFF"/>
                </a:solidFill>
                <a:latin typeface="Segoe UI Light"/>
              </a:rPr>
              <a:t>228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SERVICES PRICED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48056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FFFFFF"/>
                </a:solidFill>
                <a:latin typeface="Segoe UI Light"/>
              </a:rPr>
              <a:t>2,494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STOCK LINES</a:t>
            </a:r>
          </a:p>
        </p:txBody>
      </p:sp>
      <p:pic>
        <p:nvPicPr>
          <p:cNvPr id="10" name="Picture 9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937760" cy="313811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0" y="1371600"/>
            <a:ext cx="4937760" cy="3138113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357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THE SCREEN THAT DECIDES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The till, with a stopwatch on it.</a:t>
            </a:r>
          </a:p>
        </p:txBody>
      </p:sp>
      <p:pic>
        <p:nvPicPr>
          <p:cNvPr id="6" name="Picture 5" descr="05-till-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86000"/>
            <a:ext cx="6675120" cy="424226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86000"/>
            <a:ext cx="6675120" cy="4242264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2377440"/>
            <a:ext cx="34747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One search</a:t>
            </a:r>
            <a:r>
              <a:rPr sz="1200">
                <a:solidFill>
                  <a:srgbClr val="3A362F"/>
                </a:solidFill>
                <a:latin typeface="Segoe UI"/>
              </a:rPr>
              <a:t> finds a client, a service or a scanned barcode.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Ordered by what you sell</a:t>
            </a:r>
            <a:r>
              <a:rPr sz="1200">
                <a:solidFill>
                  <a:srgbClr val="3A362F"/>
                </a:solidFill>
                <a:latin typeface="Segoe UI"/>
              </a:rPr>
              <a:t> — the everyday services sit at the top.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A docket per client,</a:t>
            </a:r>
            <a:r>
              <a:rPr sz="1200">
                <a:solidFill>
                  <a:srgbClr val="3A362F"/>
                </a:solidFill>
                <a:latin typeface="Segoe UI"/>
              </a:rPr>
              <a:t> opened on arrival, settled at the counter.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The balance owing</a:t>
            </a:r>
            <a:r>
              <a:rPr sz="1200">
                <a:solidFill>
                  <a:srgbClr val="3A362F"/>
                </a:solidFill>
                <a:latin typeface="Segoe UI"/>
              </a:rPr>
              <a:t> is the largest thing on screen, keypad beneath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846320"/>
            <a:ext cx="3474720" cy="123444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502920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6E6455"/>
                </a:solidFill>
                <a:latin typeface="Segoe UI"/>
              </a:rPr>
              <a:t>18 automated tests on the money logic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6E6455"/>
                </a:solidFill>
                <a:latin typeface="Segoe UI"/>
              </a:rPr>
              <a:t>VAT, discounts, split payments, change and tips are each proven independently of the screen.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THE SALON'S MOST VALUABLE ASSET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Every client, every visit, instantly.</a:t>
            </a:r>
          </a:p>
        </p:txBody>
      </p:sp>
      <p:pic>
        <p:nvPicPr>
          <p:cNvPr id="6" name="Picture 5" descr="07-client-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6766560" cy="43003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0" y="2286000"/>
            <a:ext cx="6766560" cy="4300377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3832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Search</a:t>
            </a:r>
            <a:r>
              <a:rPr sz="1200">
                <a:solidFill>
                  <a:srgbClr val="3A362F"/>
                </a:solidFill>
                <a:latin typeface="Segoe UI"/>
              </a:rPr>
              <a:t> by name or phone; open a full timeline in one click.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Every service and price</a:t>
            </a:r>
            <a:r>
              <a:rPr sz="1200">
                <a:solidFill>
                  <a:srgbClr val="3A362F"/>
                </a:solidFill>
                <a:latin typeface="Segoe UI"/>
              </a:rPr>
              <a:t> back to 2015, with the stylist who did it.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Colour formulas</a:t>
            </a:r>
            <a:r>
              <a:rPr sz="1200">
                <a:solidFill>
                  <a:srgbClr val="3A362F"/>
                </a:solidFill>
                <a:latin typeface="Segoe UI"/>
              </a:rPr>
              <a:t> and medical flags travel with the client.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Filters</a:t>
            </a:r>
            <a:r>
              <a:rPr sz="1200">
                <a:solidFill>
                  <a:srgbClr val="3A362F"/>
                </a:solidFill>
                <a:latin typeface="Segoe UI"/>
              </a:rPr>
              <a:t> for lapsed clients, top spenders and birthdays.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3383280" cy="118872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0749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6E6455"/>
                </a:solidFill>
                <a:latin typeface="Segoe UI"/>
              </a:rPr>
              <a:t>1,709 clients have visited 10+ times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6E6455"/>
                </a:solidFill>
                <a:latin typeface="Segoe UI"/>
              </a:rPr>
              <a:t>That loyal core is the business — and its history is locked in a 2005 database on one PC.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BUY-IN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Three people, three different systems.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401568" cy="3794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450592"/>
            <a:ext cx="3072384" cy="195260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87552" y="2450592"/>
            <a:ext cx="3072384" cy="1952604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1" spc="120">
                <a:solidFill>
                  <a:srgbClr val="8A7F6F"/>
                </a:solidFill>
                <a:latin typeface="Segoe UI"/>
              </a:rPr>
              <a:t>OWNER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A1816"/>
                </a:solidFill>
                <a:latin typeface="Segoe UI"/>
              </a:rPr>
              <a:t>The business, on your phone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Takings so far today, month against last, top stylists, stock value and what needs attention — without phoning the salon.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401568" cy="3794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3-cash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432" y="2450592"/>
            <a:ext cx="3072384" cy="195260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99432" y="2450592"/>
            <a:ext cx="3072384" cy="1952604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43434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1" spc="120">
                <a:solidFill>
                  <a:srgbClr val="8A7F6F"/>
                </a:solidFill>
                <a:latin typeface="Segoe UI"/>
              </a:rPr>
              <a:t>RECEPTION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A1816"/>
                </a:solidFill>
                <a:latin typeface="Segoe UI"/>
              </a:rPr>
              <a:t>A faster front desk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Till, clients, diary, stock and the familiar denomination cash-up. No profit reports, no staff pay: less to learn.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401568" cy="3794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6-stylist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2450592"/>
            <a:ext cx="3072384" cy="195260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211312" y="2450592"/>
            <a:ext cx="3072384" cy="1952604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43434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1" spc="120">
                <a:solidFill>
                  <a:srgbClr val="8A7F6F"/>
                </a:solidFill>
                <a:latin typeface="Segoe UI"/>
              </a:rPr>
              <a:t>STYLIST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A1816"/>
                </a:solidFill>
                <a:latin typeface="Segoe UI"/>
              </a:rPr>
              <a:t>Their own numbers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Today's clients, month against target and tips earned — on their own phone. Done for the team, not to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GOING LIVE WITHOUT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Nothing switches over until the numbers match.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50545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8796" y="2651760"/>
            <a:ext cx="9525" cy="502920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42316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Build the heart  </a:t>
            </a:r>
            <a:r>
              <a:rPr sz="1250">
                <a:solidFill>
                  <a:srgbClr val="3A362F"/>
                </a:solidFill>
                <a:latin typeface="Segoe UI"/>
              </a:rPr>
              <a:t>— Till, cash-up and clients, loaded with migrated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242316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6–8 weeks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23697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8796" y="3383280"/>
            <a:ext cx="9525" cy="502920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Shadow run  </a:t>
            </a:r>
            <a:r>
              <a:rPr sz="1250">
                <a:solidFill>
                  <a:srgbClr val="3A362F"/>
                </a:solidFill>
                <a:latin typeface="Segoe UI"/>
              </a:rPr>
              <a:t>— The new till runs alongside MySalon; totals must match to the cent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315468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2 weeks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96849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" y="4114800"/>
            <a:ext cx="9525" cy="502920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3886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Go live  </a:t>
            </a:r>
            <a:r>
              <a:rPr sz="1250">
                <a:solidFill>
                  <a:srgbClr val="3A362F"/>
                </a:solidFill>
                <a:latin typeface="Segoe UI"/>
              </a:rPr>
              <a:t>— Invoicing and cash-up cut over; MySalon becomes read-only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38862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1 weekend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70001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" y="4846320"/>
            <a:ext cx="9525" cy="502920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461772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Stock &amp; team  </a:t>
            </a:r>
            <a:r>
              <a:rPr sz="1250">
                <a:solidFill>
                  <a:srgbClr val="3A362F"/>
                </a:solidFill>
                <a:latin typeface="Segoe UI"/>
              </a:rPr>
              <a:t>— Stock control, orders, stock takes, portfolios, time clock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461772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+4–6 weeks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543153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3492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Messaging &amp; diary  </a:t>
            </a:r>
            <a:r>
              <a:rPr sz="1250">
                <a:solidFill>
                  <a:srgbClr val="3A362F"/>
                </a:solidFill>
                <a:latin typeface="Segoe UI"/>
              </a:rPr>
              <a:t>— SMS and WhatsApp templates, the light diary, stylist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534924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+3–4 weeks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Stylist dashboards arrive only after reception already trusts the till.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FFFFFF"/>
                </a:solidFill>
                <a:latin typeface="Segoe UI Light"/>
              </a:rPr>
              <a:t>|</a:t>
            </a:r>
            <a:r>
              <a:rPr sz="1500">
                <a:solidFill>
                  <a:srgbClr val="FFFFFF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3A898"/>
                </a:solidFill>
                <a:latin typeface="Segoe UI"/>
              </a:rPr>
              <a:t>HOW WE'LL KNOW IT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FFFFFF"/>
                </a:solidFill>
                <a:latin typeface="Segoe UI Light"/>
              </a:rPr>
              <a:t>Five things, all of them measurable.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96012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A routine sale in 30 seconds or less,</a:t>
            </a:r>
            <a:r>
              <a:rPr sz="1400">
                <a:solidFill>
                  <a:srgbClr val="CFC9BD"/>
                </a:solidFill>
                <a:latin typeface="Segoe UI"/>
              </a:rPr>
              <a:t> and cash-up done in five minutes.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Shadow-run totals match MySalon to the cent,</a:t>
            </a:r>
            <a:r>
              <a:rPr sz="1400">
                <a:solidFill>
                  <a:srgbClr val="CFC9BD"/>
                </a:solidFill>
                <a:latin typeface="Segoe UI"/>
              </a:rPr>
              <a:t> two weeks running.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Reception say they prefer the new till</a:t>
            </a:r>
            <a:r>
              <a:rPr sz="1400">
                <a:solidFill>
                  <a:srgbClr val="CFC9BD"/>
                </a:solidFill>
                <a:latin typeface="Segoe UI"/>
              </a:rPr>
              <a:t> within a month of go-live.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The owner checks takings on their phone,</a:t>
            </a:r>
            <a:r>
              <a:rPr sz="1400">
                <a:solidFill>
                  <a:srgbClr val="CFC9BD"/>
                </a:solidFill>
                <a:latin typeface="Segoe UI"/>
              </a:rPr>
              <a:t> instead of phoning the salon.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Zero data loss</a:t>
            </a:r>
            <a:r>
              <a:rPr sz="1400">
                <a:solidFill>
                  <a:srgbClr val="CFC9BD"/>
                </a:solidFill>
                <a:latin typeface="Segoe UI"/>
              </a:rPr>
              <a:t> — every historic visit still findable.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357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OVER TO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Try the prototype, then five decisions.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4937760" cy="283464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42032"/>
            <a:ext cx="43891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950" b="1" spc="120">
                <a:solidFill>
                  <a:srgbClr val="6E6455"/>
                </a:solidFill>
                <a:latin typeface="Segoe UI"/>
              </a:rPr>
              <a:t>WHAT TO DO IN THE PROTOTYPE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Sign in as owner — password hairline2026.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Ring up a sale on the Till and watch the timer.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Open a client and scroll eleven years of history.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Sign out, back in as karin, to see a stylist's view.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Count the drawer on Cash-up.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317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spc="120">
                <a:solidFill>
                  <a:srgbClr val="8A7F6F"/>
                </a:solidFill>
                <a:latin typeface="Segoe UI"/>
              </a:rPr>
              <a:t>DECISIONS WE NEED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606040"/>
            <a:ext cx="4937760" cy="9525"/>
          </a:xfrm>
          <a:prstGeom prst="rect">
            <a:avLst/>
          </a:prstGeom>
          <a:solidFill>
            <a:srgbClr val="8A7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743200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43200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Keep “Hairline Salon Manager”?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127248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218688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Price tiers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218688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Confirm senior / junior levels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602736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94176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Card machine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694176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Standalone, or integrated later?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078224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169664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WhatsApp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169664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Register the salon number?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553712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645152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Diary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645152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From day one, or ease into it?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029200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This plan is a conversation starter, not a contract. Everything in it can change.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