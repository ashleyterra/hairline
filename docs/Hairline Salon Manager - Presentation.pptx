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600">
                <a:solidFill>
                  <a:srgbClr val="8A7F6F"/>
                </a:solidFill>
                <a:latin typeface="Segoe UI Light"/>
              </a:rPr>
              <a:t>HAIR</a:t>
            </a:r>
            <a:r>
              <a:rPr sz="6600">
                <a:solidFill>
                  <a:srgbClr val="1A1816"/>
                </a:solidFill>
                <a:latin typeface="Segoe UI Light"/>
              </a:rPr>
              <a:t>|</a:t>
            </a:r>
            <a:r>
              <a:rPr sz="66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00400"/>
            <a:ext cx="6583680" cy="9525"/>
          </a:xfrm>
          <a:prstGeom prst="rect">
            <a:avLst/>
          </a:prstGeom>
          <a:solidFill>
            <a:srgbClr val="E2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0">
                <a:solidFill>
                  <a:srgbClr val="1A1816"/>
                </a:solidFill>
                <a:latin typeface="Segoe UI Light"/>
              </a:rPr>
              <a:t>Salon Manager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7A7264"/>
                </a:solidFill>
                <a:latin typeface="Segoe UI"/>
              </a:rPr>
              <a:t>A working prototype, built on eleven years of Hairline's own trading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188720" cy="36576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7433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E6455"/>
                </a:solidFill>
                <a:latin typeface="Segoe UI"/>
              </a:rPr>
              <a:t>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892040"/>
            <a:ext cx="1188720" cy="36576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97433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E6455"/>
                </a:solidFill>
                <a:latin typeface="Segoe UI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892040"/>
            <a:ext cx="1600200" cy="36576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97433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E6455"/>
                </a:solidFill>
                <a:latin typeface="Segoe UI"/>
              </a:rPr>
              <a:t>Live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7264"/>
                </a:solidFill>
                <a:latin typeface="Segoe UI"/>
              </a:rPr>
              <a:t>Prepared for the owner of Hairline  Â·  Shop 30, Stoneridge Centre, Greenstone 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A1816"/>
                </a:solidFill>
                <a:latin typeface="Segoe UI Light"/>
              </a:rPr>
              <a:t>Replace MySalon with something the team will actually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Cover the whole salon</a:t>
            </a:r>
            <a:r>
              <a:rPr sz="1350">
                <a:solidFill>
                  <a:srgbClr val="3A362F"/>
                </a:solidFill>
                <a:latin typeface="Segoe UI"/>
              </a:rPr>
              <a:t> — but keep it simple. No overkill.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Focus on the core:</a:t>
            </a:r>
            <a:r>
              <a:rPr sz="1350">
                <a:solidFill>
                  <a:srgbClr val="3A362F"/>
                </a:solidFill>
                <a:latin typeface="Segoe UI"/>
              </a:rPr>
              <a:t> invoicing, client history, pricing, stock, staff.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Win buy-in</a:t>
            </a:r>
            <a:r>
              <a:rPr sz="1350">
                <a:solidFill>
                  <a:srgbClr val="3A362F"/>
                </a:solidFill>
                <a:latin typeface="Segoe UI"/>
              </a:rPr>
              <a:t> from reception, the stylists and the owner.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Build it properly</a:t>
            </a:r>
            <a:r>
              <a:rPr sz="1350">
                <a:solidFill>
                  <a:srgbClr val="3A362F"/>
                </a:solidFill>
                <a:latin typeface="Segoe UI"/>
              </a:rPr>
              <a:t> — this could become a product for other salons.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377440"/>
            <a:ext cx="44348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651760"/>
            <a:ext cx="3794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1" spc="120">
                <a:solidFill>
                  <a:srgbClr val="8A7F6F"/>
                </a:solidFill>
                <a:latin typeface="Segoe UI"/>
              </a:rPr>
              <a:t>THE TEST WE SET OURSELVES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A1816"/>
                </a:solidFill>
                <a:latin typeface="Segoe UI Light"/>
              </a:rPr>
              <a:t>The new till must be faster than the old one.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Every study of salon software adoption says the same thing: if checkout slows down, the team stops using it — whatever else the system can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FFFFFF"/>
                </a:solidFill>
                <a:latin typeface="Segoe UI Light"/>
              </a:rPr>
              <a:t>|</a:t>
            </a:r>
            <a:r>
              <a:rPr sz="1500">
                <a:solidFill>
                  <a:srgbClr val="FFFFFF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B3A898"/>
                </a:solidFill>
                <a:latin typeface="Segoe UI"/>
              </a:rPr>
              <a:t>BEFORE DESIGNING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Segoe UI Light"/>
              </a:rPr>
              <a:t>We restored the salon's database
and read eleven years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CFC9BD"/>
                </a:solidFill>
                <a:latin typeface="Segoe UI"/>
              </a:rPr>
              <a:t>Not a workshop, not assumptions — the actual record of how Hairline trades, taken from the July 2026 MySalon backup.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2423160" cy="1097280"/>
          </a:xfrm>
          <a:prstGeom prst="roundRect">
            <a:avLst>
              <a:gd name="adj" fmla="val 3000"/>
            </a:avLst>
          </a:prstGeom>
          <a:solidFill>
            <a:srgbClr val="2421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6110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Segoe UI Light"/>
              </a:rPr>
              <a:t>90,183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INVOICES SINCE 2015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114800"/>
            <a:ext cx="2423160" cy="1097280"/>
          </a:xfrm>
          <a:prstGeom prst="roundRect">
            <a:avLst>
              <a:gd name="adj" fmla="val 3000"/>
            </a:avLst>
          </a:prstGeom>
          <a:solidFill>
            <a:srgbClr val="2421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26110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Segoe UI Light"/>
              </a:rPr>
              <a:t>8,645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ACTIVE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14800"/>
            <a:ext cx="2423160" cy="1097280"/>
          </a:xfrm>
          <a:prstGeom prst="roundRect">
            <a:avLst>
              <a:gd name="adj" fmla="val 3000"/>
            </a:avLst>
          </a:prstGeom>
          <a:solidFill>
            <a:srgbClr val="2421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26110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Segoe UI Light"/>
              </a:rPr>
              <a:t>R7.5m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REVENUE IN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4114800"/>
            <a:ext cx="2423160" cy="1097280"/>
          </a:xfrm>
          <a:prstGeom prst="roundRect">
            <a:avLst>
              <a:gd name="adj" fmla="val 3000"/>
            </a:avLst>
          </a:prstGeom>
          <a:solidFill>
            <a:srgbClr val="2421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426110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Segoe UI Light"/>
              </a:rPr>
              <a:t>92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DATABASE TABLES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357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WHAT THE DATA SAID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A1816"/>
                </a:solidFill>
                <a:latin typeface="Segoe UI Light"/>
              </a:rPr>
              <a:t>The salon told us what to build — and what to leave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C7A5A"/>
                </a:solidFill>
                <a:latin typeface="Segoe UI"/>
              </a:rPr>
              <a:t>Used every single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4846320" cy="9525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Invoicing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92608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90,183 invoices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4408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4670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Cash-up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3467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3,841 daily 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85032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6732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Stock 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767328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49,663 items counted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05656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Clocking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187952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11,069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526280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0857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Tips &amp; advances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608576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4,478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946904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0433A"/>
                </a:solidFill>
                <a:latin typeface="Segoe UI"/>
              </a:rPr>
              <a:t>Never used in 11 years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88920"/>
            <a:ext cx="4846320" cy="9525"/>
          </a:xfrm>
          <a:prstGeom prst="rect">
            <a:avLst/>
          </a:prstGeom>
          <a:solidFill>
            <a:srgbClr val="A0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Payroll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2608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0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64408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34670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Loyalty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467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0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85032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76732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Packages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767328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0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05656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18795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Bank reconciliation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87952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0 records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26280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60857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Appointment diary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608576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48 in 11 years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946904"/>
            <a:ext cx="484632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7264"/>
                </a:solidFill>
                <a:latin typeface="Segoe UI"/>
              </a:rPr>
              <a:t>Every unused feature we leave out is a screen reception never has to learn.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FOUR THINGS THE DATA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A1816"/>
                </a:solidFill>
                <a:latin typeface="Segoe UI Light"/>
              </a:rPr>
              <a:t>Findings the salon can act on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423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70048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850" b="1" spc="100">
                <a:solidFill>
                  <a:srgbClr val="8A7F6F"/>
                </a:solidFill>
                <a:latin typeface="Segoe UI"/>
              </a:rPr>
              <a:t>01 — STOCK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A0433A"/>
                </a:solidFill>
                <a:latin typeface="Segoe UI"/>
              </a:rPr>
              <a:t>1,350 lines show
negative stock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Sales rung up against stock never received. Nearly 40% of the stock file cannot be trusted until it is counted.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68880"/>
            <a:ext cx="2423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670048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850" b="1" spc="100">
                <a:solidFill>
                  <a:srgbClr val="8A7F6F"/>
                </a:solidFill>
                <a:latin typeface="Segoe UI"/>
              </a:rPr>
              <a:t>02 — CLIENTS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A8762A"/>
                </a:solidFill>
                <a:latin typeface="Segoe UI"/>
              </a:rPr>
              <a:t>758 clients have
quietly lapsed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They visited within the year but not in 90 days. The cheapest revenue in the salon is a message to this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468880"/>
            <a:ext cx="2423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2670048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850" b="1" spc="100">
                <a:solidFill>
                  <a:srgbClr val="8A7F6F"/>
                </a:solidFill>
                <a:latin typeface="Segoe UI"/>
              </a:rPr>
              <a:t>03 — PAYMENTS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A86A8"/>
                </a:solidFill>
                <a:latin typeface="Segoe UI"/>
              </a:rPr>
              <a:t>89% of takings
are on card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Cash is barely 5%. The cash-up ritual guards a small and shrinking share of the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468880"/>
            <a:ext cx="242316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2670048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850" b="1" spc="100">
                <a:solidFill>
                  <a:srgbClr val="8A7F6F"/>
                </a:solidFill>
                <a:latin typeface="Segoe UI"/>
              </a:rPr>
              <a:t>04 — MARKETING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A8762A"/>
                </a:solidFill>
                <a:latin typeface="Segoe UI"/>
              </a:rPr>
              <a:t>Only 8% have a
birthday on file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718 of 8,645. Just 76 have an e-mail address, but 8,603 have a phone number — so SMS and WhatsApp, never e-mail.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FFFFFF"/>
                </a:solidFill>
                <a:latin typeface="Segoe UI Light"/>
              </a:rPr>
              <a:t>|</a:t>
            </a:r>
            <a:r>
              <a:rPr sz="1500">
                <a:solidFill>
                  <a:srgbClr val="FFFFFF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B3A898"/>
                </a:solidFill>
                <a:latin typeface="Segoe U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3600">
                <a:solidFill>
                  <a:srgbClr val="FFFFFF"/>
                </a:solidFill>
                <a:latin typeface="Segoe UI Light"/>
              </a:rPr>
              <a:t>Build the </a:t>
            </a:r>
            <a:r>
              <a:rPr sz="3600">
                <a:solidFill>
                  <a:srgbClr val="B3A898"/>
                </a:solidFill>
                <a:latin typeface="Segoe UI Light"/>
              </a:rPr>
              <a:t>daily essentials</a:t>
            </a:r>
            <a:r>
              <a:rPr sz="3600">
                <a:solidFill>
                  <a:srgbClr val="FFFFFF"/>
                </a:solidFill>
                <a:latin typeface="Segoe UI Light"/>
              </a:rPr>
              <a:t> exceptionally well.</a:t>
            </a:r>
          </a:p>
          <a:p>
            <a:pPr>
              <a:lnSpc>
                <a:spcPct val="112000"/>
              </a:lnSpc>
            </a:pPr>
            <a:r>
              <a:rPr sz="3600">
                <a:solidFill>
                  <a:srgbClr val="FFFFFF"/>
                </a:solidFill>
                <a:latin typeface="Segoe UI Light"/>
              </a:rPr>
              <a:t>Leave out everything the salon has already voted against.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0515600" cy="9525"/>
          </a:xfrm>
          <a:prstGeom prst="rect">
            <a:avLst/>
          </a:prstGeom>
          <a:solidFill>
            <a:srgbClr val="353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1675180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43984"/>
            <a:ext cx="16751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Invoicing &amp; cash-up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4444" y="4343400"/>
            <a:ext cx="1514246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4444" y="4443984"/>
            <a:ext cx="15142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Clients &amp;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994" y="4343400"/>
            <a:ext cx="1353311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4994" y="4443984"/>
            <a:ext cx="13533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Pricing &amp; menus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4609" y="4343400"/>
            <a:ext cx="1192377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4609" y="4443984"/>
            <a:ext cx="11923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Stock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3290" y="4343400"/>
            <a:ext cx="1433779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3290" y="4443984"/>
            <a:ext cx="14337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Staff portfolios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3" y="4343400"/>
            <a:ext cx="1433779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3" y="4443984"/>
            <a:ext cx="14337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Client messaging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10328"/>
            <a:ext cx="1192377" cy="402336"/>
          </a:xfrm>
          <a:prstGeom prst="roundRect">
            <a:avLst>
              <a:gd name="adj" fmla="val 3000"/>
            </a:avLst>
          </a:prstGeom>
          <a:solidFill>
            <a:srgbClr val="26221D"/>
          </a:solidFill>
          <a:ln w="9525">
            <a:solidFill>
              <a:srgbClr val="35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10912"/>
            <a:ext cx="11923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3A898"/>
                </a:solidFill>
                <a:latin typeface="Segoe UI"/>
              </a:rPr>
              <a:t>A light diary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357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Same rituals, twenty years of technology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49377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060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40">
                <a:solidFill>
                  <a:srgbClr val="7A7264"/>
                </a:solidFill>
                <a:latin typeface="Segoe UI"/>
              </a:rPr>
              <a:t>MYSALON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99232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One PC in the salon. If it dies, trading stops.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SQL Server 2005 under the hood.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Price menus retyped in Word every year.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Figures only visible at reception.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Dated SMS; no WhatsApp.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8A7F6F"/>
                </a:solidFill>
                <a:latin typeface="Segoe UI"/>
              </a:rPr>
              <a:t>â†’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77440"/>
            <a:ext cx="4892040" cy="3291840"/>
          </a:xfrm>
          <a:prstGeom prst="roundRect">
            <a:avLst>
              <a:gd name="adj" fmla="val 3000"/>
            </a:avLst>
          </a:prstGeom>
          <a:solidFill>
            <a:srgbClr val="1A1816"/>
          </a:solidFill>
          <a:ln w="9525">
            <a:solidFill>
              <a:srgbClr val="1A1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6060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40">
                <a:solidFill>
                  <a:srgbClr val="B3A898"/>
                </a:solidFill>
                <a:latin typeface="Segoe UI"/>
              </a:rPr>
              <a:t>SALON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999232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B3A898"/>
                </a:solidFill>
                <a:latin typeface="Segoe UI"/>
              </a:rPr>
              <a:t>—   </a:t>
            </a:r>
            <a:r>
              <a:rPr sz="1200">
                <a:solidFill>
                  <a:srgbClr val="CFC9BD"/>
                </a:solidFill>
                <a:latin typeface="Segoe UI"/>
              </a:rPr>
              <a:t>Cloud-hosted, with a till that keeps working offline.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B3A898"/>
                </a:solidFill>
                <a:latin typeface="Segoe UI"/>
              </a:rPr>
              <a:t>—   </a:t>
            </a:r>
            <a:r>
              <a:rPr sz="1200">
                <a:solidFill>
                  <a:srgbClr val="CFC9BD"/>
                </a:solidFill>
                <a:latin typeface="Segoe UI"/>
              </a:rPr>
              <a:t>A modern web app on any device.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B3A898"/>
                </a:solidFill>
                <a:latin typeface="Segoe UI"/>
              </a:rPr>
              <a:t>—   </a:t>
            </a:r>
            <a:r>
              <a:rPr sz="1200">
                <a:solidFill>
                  <a:srgbClr val="CFC9BD"/>
                </a:solidFill>
                <a:latin typeface="Segoe UI"/>
              </a:rPr>
              <a:t>Client menu generated from live prices.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B3A898"/>
                </a:solidFill>
                <a:latin typeface="Segoe UI"/>
              </a:rPr>
              <a:t>—   </a:t>
            </a:r>
            <a:r>
              <a:rPr sz="1200">
                <a:solidFill>
                  <a:srgbClr val="CFC9BD"/>
                </a:solidFill>
                <a:latin typeface="Segoe UI"/>
              </a:rPr>
              <a:t>Takings on the owner's phone, anywhere.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>
                <a:solidFill>
                  <a:srgbClr val="B3A898"/>
                </a:solidFill>
                <a:latin typeface="Segoe UI"/>
              </a:rPr>
              <a:t>—   </a:t>
            </a:r>
            <a:r>
              <a:rPr sz="1200">
                <a:solidFill>
                  <a:srgbClr val="CFC9BD"/>
                </a:solidFill>
                <a:latin typeface="Segoe UI"/>
              </a:rPr>
              <a:t>SMS now, WhatsApp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FFFFFF"/>
                </a:solidFill>
                <a:latin typeface="Segoe UI Light"/>
              </a:rPr>
              <a:t>|</a:t>
            </a:r>
            <a:r>
              <a:rPr sz="1500">
                <a:solidFill>
                  <a:srgbClr val="FFFFFF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B3A898"/>
                </a:solidFill>
                <a:latin typeface="Segoe UI"/>
              </a:rPr>
              <a:t>NOT A MOCK-UP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>
                <a:solidFill>
                  <a:srgbClr val="FFFFFF"/>
                </a:solidFill>
                <a:latin typeface="Segoe UI Light"/>
              </a:rPr>
              <a:t>We built it. It's </a:t>
            </a:r>
            <a:r>
              <a:rPr sz="3000">
                <a:solidFill>
                  <a:srgbClr val="B3A898"/>
                </a:solidFill>
                <a:latin typeface="Segoe UI Light"/>
              </a:rPr>
              <a:t>running</a:t>
            </a:r>
            <a:r>
              <a:rPr sz="3000">
                <a:solidFill>
                  <a:srgbClr val="FFFFFF"/>
                </a:solidFill>
                <a:latin typeface="Segoe UI Light"/>
              </a:rPr>
              <a:t>, on the salon's own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CFC9BD"/>
                </a:solidFill>
                <a:latin typeface="Segoe UI"/>
              </a:rPr>
              <a:t>Eight working screens loaded with real services, real prices, real stock and eleven years of real visit patterns. Client names are anonymised; nothing else is 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Segoe UI Light"/>
              </a:rPr>
              <a:t>750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CLIENT HISTORIES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448056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Segoe UI Light"/>
              </a:rPr>
              <a:t>228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SERVICES PRICED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8056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Segoe UI Light"/>
              </a:rPr>
              <a:t>2,494</a:t>
            </a:r>
          </a:p>
          <a:p>
            <a:pPr algn="l">
              <a:spcAft>
                <a:spcPts val="0"/>
              </a:spcAft>
            </a:pPr>
            <a:r>
              <a:rPr sz="900" b="0" spc="80">
                <a:solidFill>
                  <a:srgbClr val="8F877A"/>
                </a:solidFill>
                <a:latin typeface="Segoe UI"/>
              </a:rPr>
              <a:t>STOCK LINES</a:t>
            </a:r>
          </a:p>
        </p:txBody>
      </p:sp>
      <p:pic>
        <p:nvPicPr>
          <p:cNvPr id="10" name="Picture 9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937760" cy="313811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1371600"/>
            <a:ext cx="4937760" cy="3138113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357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THE SCREEN THAT DECIDES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The till, with a stopwatch on it.</a:t>
            </a:r>
          </a:p>
        </p:txBody>
      </p:sp>
      <p:pic>
        <p:nvPicPr>
          <p:cNvPr id="6" name="Picture 5" descr="05-till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675120" cy="42422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286000"/>
            <a:ext cx="6675120" cy="4242264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37744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One search</a:t>
            </a:r>
            <a:r>
              <a:rPr sz="1200">
                <a:solidFill>
                  <a:srgbClr val="3A362F"/>
                </a:solidFill>
                <a:latin typeface="Segoe UI"/>
              </a:rPr>
              <a:t> finds a client, a service or a scanned barcode.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Big tappable tiles</a:t>
            </a:r>
            <a:r>
              <a:rPr sz="1200">
                <a:solidFill>
                  <a:srgbClr val="3A362F"/>
                </a:solidFill>
                <a:latin typeface="Segoe UI"/>
              </a:rPr>
              <a:t> — laid out for a counter, not a desk.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The balance owing</a:t>
            </a:r>
            <a:r>
              <a:rPr sz="1200">
                <a:solidFill>
                  <a:srgbClr val="3A362F"/>
                </a:solidFill>
                <a:latin typeface="Segoe UI"/>
              </a:rPr>
              <a:t> is the largest thing on screen, with a keypad beneath it.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A live timer</a:t>
            </a:r>
            <a:r>
              <a:rPr sz="1200">
                <a:solidFill>
                  <a:srgbClr val="3A362F"/>
                </a:solidFill>
                <a:latin typeface="Segoe UI"/>
              </a:rPr>
              <a:t> keeps the 30-second target honest.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46320"/>
            <a:ext cx="3474720" cy="123444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5029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6E6455"/>
                </a:solidFill>
                <a:latin typeface="Segoe UI"/>
              </a:rPr>
              <a:t>18 automated tests on the money logic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6E6455"/>
                </a:solidFill>
                <a:latin typeface="Segoe UI"/>
              </a:rPr>
              <a:t>VAT, discounts, split payments, change and tips are each proven independently of the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THE SALON'S MOST VALUABLE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Every client, every visit, instantly.</a:t>
            </a:r>
          </a:p>
        </p:txBody>
      </p:sp>
      <p:pic>
        <p:nvPicPr>
          <p:cNvPr id="6" name="Picture 5" descr="07-client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6766560" cy="43003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0" y="2286000"/>
            <a:ext cx="6766560" cy="4300377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Search</a:t>
            </a:r>
            <a:r>
              <a:rPr sz="1200">
                <a:solidFill>
                  <a:srgbClr val="3A362F"/>
                </a:solidFill>
                <a:latin typeface="Segoe UI"/>
              </a:rPr>
              <a:t> by name or phone; open a full timeline in one click.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Every service and price</a:t>
            </a:r>
            <a:r>
              <a:rPr sz="1200">
                <a:solidFill>
                  <a:srgbClr val="3A362F"/>
                </a:solidFill>
                <a:latin typeface="Segoe UI"/>
              </a:rPr>
              <a:t> back to 2015, with the stylist who did it.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Colour formulas</a:t>
            </a:r>
            <a:r>
              <a:rPr sz="1200">
                <a:solidFill>
                  <a:srgbClr val="3A362F"/>
                </a:solidFill>
                <a:latin typeface="Segoe UI"/>
              </a:rPr>
              <a:t> and medical flags travel with the client.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 b="1">
                <a:solidFill>
                  <a:srgbClr val="1A1816"/>
                </a:solidFill>
                <a:latin typeface="Segoe UI"/>
              </a:rPr>
              <a:t>Filters</a:t>
            </a:r>
            <a:r>
              <a:rPr sz="1200">
                <a:solidFill>
                  <a:srgbClr val="3A362F"/>
                </a:solidFill>
                <a:latin typeface="Segoe UI"/>
              </a:rPr>
              <a:t> for lapsed clients, top spenders and birthdays.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749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6E6455"/>
                </a:solidFill>
                <a:latin typeface="Segoe UI"/>
              </a:rPr>
              <a:t>1,709 clients have visited 10+ times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6E6455"/>
                </a:solidFill>
                <a:latin typeface="Segoe UI"/>
              </a:rPr>
              <a:t>That loyal core is the business — and its history is locked in a 2005 database on one PC.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BUY-IN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Three people, three different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01568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450592"/>
            <a:ext cx="3072384" cy="19526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87552" y="2450592"/>
            <a:ext cx="3072384" cy="1952604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 spc="120">
                <a:solidFill>
                  <a:srgbClr val="8A7F6F"/>
                </a:solidFill>
                <a:latin typeface="Segoe UI"/>
              </a:rPr>
              <a:t>OWNER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1A1816"/>
                </a:solidFill>
                <a:latin typeface="Segoe UI"/>
              </a:rPr>
              <a:t>The business, on your phone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Takings so far today, month against last, top stylists, stock value and what needs attention — without phoning the salon.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401568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-cash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450592"/>
            <a:ext cx="3072384" cy="195260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99432" y="2450592"/>
            <a:ext cx="3072384" cy="1952604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 spc="120">
                <a:solidFill>
                  <a:srgbClr val="8A7F6F"/>
                </a:solidFill>
                <a:latin typeface="Segoe UI"/>
              </a:rPr>
              <a:t>RECEPTION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1A1816"/>
                </a:solidFill>
                <a:latin typeface="Segoe UI"/>
              </a:rPr>
              <a:t>A faster front desk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Till, clients, diary, stock and the familiar denomination cash-up. No profit reports, no staff pay: less to learn.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401568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6-stylist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450592"/>
            <a:ext cx="3072384" cy="195260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11312" y="2450592"/>
            <a:ext cx="3072384" cy="1952604"/>
          </a:xfrm>
          <a:prstGeom prst="rect">
            <a:avLst/>
          </a:prstGeom>
          <a:noFill/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3434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1" spc="120">
                <a:solidFill>
                  <a:srgbClr val="8A7F6F"/>
                </a:solidFill>
                <a:latin typeface="Segoe UI"/>
              </a:rPr>
              <a:t>STYLIST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1A1816"/>
                </a:solidFill>
                <a:latin typeface="Segoe UI"/>
              </a:rPr>
              <a:t>Their own numbers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A7264"/>
                </a:solidFill>
                <a:latin typeface="Segoe UI"/>
              </a:rPr>
              <a:t>Today's clients, month against target and tips earned — on their own phone. Done for the team, not to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GOING LIVE WITHOUT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Nothing switches over until the numbers match.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05456"/>
            <a:ext cx="146304" cy="146304"/>
          </a:xfrm>
          <a:prstGeom prst="ellipse">
            <a:avLst/>
          </a:prstGeom>
          <a:solidFill>
            <a:srgbClr val="FAF9F7"/>
          </a:solidFill>
          <a:ln w="19050">
            <a:solidFill>
              <a:srgbClr val="8A7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8796" y="2651760"/>
            <a:ext cx="9525" cy="502920"/>
          </a:xfrm>
          <a:prstGeom prst="rect">
            <a:avLst/>
          </a:prstGeom>
          <a:solidFill>
            <a:srgbClr val="E2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1A1816"/>
                </a:solidFill>
                <a:latin typeface="Segoe UI"/>
              </a:rPr>
              <a:t>Build the heart  </a:t>
            </a:r>
            <a:r>
              <a:rPr sz="1250">
                <a:solidFill>
                  <a:srgbClr val="3A362F"/>
                </a:solidFill>
                <a:latin typeface="Segoe UI"/>
              </a:rPr>
              <a:t>— Till, cash-up and clients, loaded with migrated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423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6–8 weeks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36976"/>
            <a:ext cx="146304" cy="146304"/>
          </a:xfrm>
          <a:prstGeom prst="ellipse">
            <a:avLst/>
          </a:prstGeom>
          <a:solidFill>
            <a:srgbClr val="FAF9F7"/>
          </a:solidFill>
          <a:ln w="19050">
            <a:solidFill>
              <a:srgbClr val="8A7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8796" y="3383280"/>
            <a:ext cx="9525" cy="502920"/>
          </a:xfrm>
          <a:prstGeom prst="rect">
            <a:avLst/>
          </a:prstGeom>
          <a:solidFill>
            <a:srgbClr val="E2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1A1816"/>
                </a:solidFill>
                <a:latin typeface="Segoe UI"/>
              </a:rPr>
              <a:t>Shadow run  </a:t>
            </a:r>
            <a:r>
              <a:rPr sz="1250">
                <a:solidFill>
                  <a:srgbClr val="3A362F"/>
                </a:solidFill>
                <a:latin typeface="Segoe UI"/>
              </a:rPr>
              <a:t>— The new till runs alongside MySalon; totals must match to the 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154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2 weeks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68496"/>
            <a:ext cx="146304" cy="146304"/>
          </a:xfrm>
          <a:prstGeom prst="ellipse">
            <a:avLst/>
          </a:prstGeom>
          <a:solidFill>
            <a:srgbClr val="FAF9F7"/>
          </a:solidFill>
          <a:ln w="19050">
            <a:solidFill>
              <a:srgbClr val="8A7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" y="4114800"/>
            <a:ext cx="9525" cy="502920"/>
          </a:xfrm>
          <a:prstGeom prst="rect">
            <a:avLst/>
          </a:prstGeom>
          <a:solidFill>
            <a:srgbClr val="E2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8862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1A1816"/>
                </a:solidFill>
                <a:latin typeface="Segoe UI"/>
              </a:rPr>
              <a:t>Go live  </a:t>
            </a:r>
            <a:r>
              <a:rPr sz="1250">
                <a:solidFill>
                  <a:srgbClr val="3A362F"/>
                </a:solidFill>
                <a:latin typeface="Segoe UI"/>
              </a:rPr>
              <a:t>— Invoicing and cash-up cut over; MySalon becomes read-only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886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1 weekend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700016"/>
            <a:ext cx="146304" cy="146304"/>
          </a:xfrm>
          <a:prstGeom prst="ellipse">
            <a:avLst/>
          </a:prstGeom>
          <a:solidFill>
            <a:srgbClr val="FAF9F7"/>
          </a:solidFill>
          <a:ln w="19050">
            <a:solidFill>
              <a:srgbClr val="8A7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796" y="4846320"/>
            <a:ext cx="9525" cy="502920"/>
          </a:xfrm>
          <a:prstGeom prst="rect">
            <a:avLst/>
          </a:prstGeom>
          <a:solidFill>
            <a:srgbClr val="E2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6177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1A1816"/>
                </a:solidFill>
                <a:latin typeface="Segoe UI"/>
              </a:rPr>
              <a:t>Stock &amp; team  </a:t>
            </a:r>
            <a:r>
              <a:rPr sz="1250">
                <a:solidFill>
                  <a:srgbClr val="3A362F"/>
                </a:solidFill>
                <a:latin typeface="Segoe UI"/>
              </a:rPr>
              <a:t>— Stock control, orders, stock takes, portfolios, time clock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6177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+4–6 weeks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431536"/>
            <a:ext cx="146304" cy="146304"/>
          </a:xfrm>
          <a:prstGeom prst="ellipse">
            <a:avLst/>
          </a:prstGeom>
          <a:solidFill>
            <a:srgbClr val="FAF9F7"/>
          </a:solidFill>
          <a:ln w="19050">
            <a:solidFill>
              <a:srgbClr val="8A7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349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>
                <a:solidFill>
                  <a:srgbClr val="1A1816"/>
                </a:solidFill>
                <a:latin typeface="Segoe UI"/>
              </a:rPr>
              <a:t>Messaging &amp; diary  </a:t>
            </a:r>
            <a:r>
              <a:rPr sz="1250">
                <a:solidFill>
                  <a:srgbClr val="3A362F"/>
                </a:solidFill>
                <a:latin typeface="Segoe UI"/>
              </a:rPr>
              <a:t>— SMS and WhatsApp templates, the light diary, stylist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3492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+3–4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Stylist dashboards arrive only after reception already trusts the till.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FFFFFF"/>
                </a:solidFill>
                <a:latin typeface="Segoe UI Light"/>
              </a:rPr>
              <a:t>|</a:t>
            </a:r>
            <a:r>
              <a:rPr sz="1500">
                <a:solidFill>
                  <a:srgbClr val="FFFFFF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B3A898"/>
                </a:solidFill>
                <a:latin typeface="Segoe UI"/>
              </a:rPr>
              <a:t>HOW WE'LL KNOW IT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Light"/>
              </a:rPr>
              <a:t>Five things, all of them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9601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400">
                <a:solidFill>
                  <a:srgbClr val="B3A898"/>
                </a:solidFill>
                <a:latin typeface="Segoe UI"/>
              </a:rPr>
              <a:t>—   </a:t>
            </a:r>
            <a:r>
              <a:rPr sz="1400" b="1">
                <a:solidFill>
                  <a:srgbClr val="FFFFFF"/>
                </a:solidFill>
                <a:latin typeface="Segoe UI"/>
              </a:rPr>
              <a:t>A routine sale in 30 seconds or less,</a:t>
            </a:r>
            <a:r>
              <a:rPr sz="1400">
                <a:solidFill>
                  <a:srgbClr val="CFC9BD"/>
                </a:solidFill>
                <a:latin typeface="Segoe UI"/>
              </a:rPr>
              <a:t> and cash-up done in five minutes.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400">
                <a:solidFill>
                  <a:srgbClr val="B3A898"/>
                </a:solidFill>
                <a:latin typeface="Segoe UI"/>
              </a:rPr>
              <a:t>—   </a:t>
            </a:r>
            <a:r>
              <a:rPr sz="1400" b="1">
                <a:solidFill>
                  <a:srgbClr val="FFFFFF"/>
                </a:solidFill>
                <a:latin typeface="Segoe UI"/>
              </a:rPr>
              <a:t>Shadow-run totals match MySalon to the cent,</a:t>
            </a:r>
            <a:r>
              <a:rPr sz="1400">
                <a:solidFill>
                  <a:srgbClr val="CFC9BD"/>
                </a:solidFill>
                <a:latin typeface="Segoe UI"/>
              </a:rPr>
              <a:t> two weeks running.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400">
                <a:solidFill>
                  <a:srgbClr val="B3A898"/>
                </a:solidFill>
                <a:latin typeface="Segoe UI"/>
              </a:rPr>
              <a:t>—   </a:t>
            </a:r>
            <a:r>
              <a:rPr sz="1400" b="1">
                <a:solidFill>
                  <a:srgbClr val="FFFFFF"/>
                </a:solidFill>
                <a:latin typeface="Segoe UI"/>
              </a:rPr>
              <a:t>Reception say they prefer the new till</a:t>
            </a:r>
            <a:r>
              <a:rPr sz="1400">
                <a:solidFill>
                  <a:srgbClr val="CFC9BD"/>
                </a:solidFill>
                <a:latin typeface="Segoe UI"/>
              </a:rPr>
              <a:t> within a month of go-live.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400">
                <a:solidFill>
                  <a:srgbClr val="B3A898"/>
                </a:solidFill>
                <a:latin typeface="Segoe UI"/>
              </a:rPr>
              <a:t>—   </a:t>
            </a:r>
            <a:r>
              <a:rPr sz="1400" b="1">
                <a:solidFill>
                  <a:srgbClr val="FFFFFF"/>
                </a:solidFill>
                <a:latin typeface="Segoe UI"/>
              </a:rPr>
              <a:t>The owner checks takings on their phone,</a:t>
            </a:r>
            <a:r>
              <a:rPr sz="1400">
                <a:solidFill>
                  <a:srgbClr val="CFC9BD"/>
                </a:solidFill>
                <a:latin typeface="Segoe UI"/>
              </a:rPr>
              <a:t> instead of phoning the salon.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400">
                <a:solidFill>
                  <a:srgbClr val="B3A898"/>
                </a:solidFill>
                <a:latin typeface="Segoe UI"/>
              </a:rPr>
              <a:t>—   </a:t>
            </a:r>
            <a:r>
              <a:rPr sz="1400" b="1">
                <a:solidFill>
                  <a:srgbClr val="FFFFFF"/>
                </a:solidFill>
                <a:latin typeface="Segoe UI"/>
              </a:rPr>
              <a:t>Zero data loss</a:t>
            </a:r>
            <a:r>
              <a:rPr sz="1400">
                <a:solidFill>
                  <a:srgbClr val="CFC9BD"/>
                </a:solidFill>
                <a:latin typeface="Segoe UI"/>
              </a:rPr>
              <a:t> — every historic visit still findable.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35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WHAT IT COSTS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Hosting and the database,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2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Hosting (Vercel).</a:t>
            </a:r>
            <a:r>
              <a:rPr sz="1350">
                <a:solidFill>
                  <a:srgbClr val="3A362F"/>
                </a:solidFill>
                <a:latin typeface="Segoe UI"/>
              </a:rPr>
              <a:t> Pro plan, $20 per user a month (≈R380) — the free tier is personal-use only, and a trading salon needs Pro.</a:t>
            </a:r>
          </a:p>
          <a:p>
            <a:pPr>
              <a:lnSpc>
                <a:spcPct val="128000"/>
              </a:lnSpc>
              <a:spcAft>
                <a:spcPts val="12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Database (Neon Postgres).</a:t>
            </a:r>
            <a:r>
              <a:rPr sz="1350">
                <a:solidFill>
                  <a:srgbClr val="3A362F"/>
                </a:solidFill>
                <a:latin typeface="Segoe UI"/>
              </a:rPr>
              <a:t> Free tier — 0.5GB storage, 100 compute-hours a month — comfortably covers Hairline's data; usage-based only if outgrown.</a:t>
            </a:r>
          </a:p>
          <a:p>
            <a:pPr>
              <a:lnSpc>
                <a:spcPct val="128000"/>
              </a:lnSpc>
              <a:spcAft>
                <a:spcPts val="12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Card machine.</a:t>
            </a:r>
            <a:r>
              <a:rPr sz="1350">
                <a:solidFill>
                  <a:srgbClr val="3A362F"/>
                </a:solidFill>
                <a:latin typeface="Segoe UI"/>
              </a:rPr>
              <a:t> No change and no new cost — the standalone terminal stays exactly as it is today.</a:t>
            </a:r>
          </a:p>
          <a:p>
            <a:pPr>
              <a:lnSpc>
                <a:spcPct val="128000"/>
              </a:lnSpc>
              <a:spcAft>
                <a:spcPts val="1200"/>
              </a:spcAft>
            </a:pPr>
            <a:r>
              <a:rPr sz="1350">
                <a:solidFill>
                  <a:srgbClr val="8A7F6F"/>
                </a:solidFill>
                <a:latin typeface="Segoe UI"/>
              </a:rPr>
              <a:t>—   </a:t>
            </a:r>
            <a:r>
              <a:rPr sz="1350" b="1">
                <a:solidFill>
                  <a:srgbClr val="1A1816"/>
                </a:solidFill>
                <a:latin typeface="Segoe UI"/>
              </a:rPr>
              <a:t>Messaging (SMS/WhatsApp).</a:t>
            </a:r>
            <a:r>
              <a:rPr sz="1350">
                <a:solidFill>
                  <a:srgbClr val="3A362F"/>
                </a:solidFill>
                <a:latin typeface="Segoe UI"/>
              </a:rPr>
              <a:t> Billed per message sent, separately from hosting.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331720"/>
            <a:ext cx="443484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560320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20">
                <a:solidFill>
                  <a:srgbClr val="8A7F6F"/>
                </a:solidFill>
                <a:latin typeface="Segoe UI"/>
              </a:rPr>
              <a:t>TYPICAL MONTHLY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2834640"/>
            <a:ext cx="3794760" cy="9525"/>
          </a:xfrm>
          <a:prstGeom prst="rect">
            <a:avLst/>
          </a:prstGeom>
          <a:solidFill>
            <a:srgbClr val="8A7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97180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Hosting — Vercel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97180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7A7264"/>
                </a:solidFill>
                <a:latin typeface="Segoe UI"/>
              </a:rPr>
              <a:t>≈ R380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300984"/>
            <a:ext cx="3794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9242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Database — Neon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392424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7A7264"/>
                </a:solidFill>
                <a:latin typeface="Segoe UI"/>
              </a:rPr>
              <a:t>R0 in free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721608"/>
            <a:ext cx="3794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813048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Card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813048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7A7264"/>
                </a:solidFill>
                <a:latin typeface="Segoe UI"/>
              </a:rPr>
              <a:t>R0 — unchanged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4142232"/>
            <a:ext cx="3794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233672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16"/>
                </a:solidFill>
                <a:latin typeface="Segoe UI"/>
              </a:rPr>
              <a:t>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233672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7A7264"/>
                </a:solidFill>
                <a:latin typeface="Segoe UI"/>
              </a:rPr>
              <a:t>Pay-per-message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4562856"/>
            <a:ext cx="3794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7091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16"/>
                </a:solidFill>
                <a:latin typeface="Segoe UI"/>
              </a:rPr>
              <a:t>Estimated to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70916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6E6455"/>
                </a:solidFill>
                <a:latin typeface="Segoe UI"/>
              </a:rPr>
              <a:t>≈ R380/mo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A7264"/>
                </a:solidFill>
                <a:latin typeface="Segoe UI"/>
              </a:rPr>
              <a:t>Figures current as of August 2026 — pricing and the Rand exchange rate will move over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8A7F6F"/>
                </a:solidFill>
                <a:latin typeface="Segoe UI Light"/>
              </a:rPr>
              <a:t>HAIR</a:t>
            </a:r>
            <a:r>
              <a:rPr sz="1500">
                <a:solidFill>
                  <a:srgbClr val="1A1816"/>
                </a:solidFill>
                <a:latin typeface="Segoe UI Light"/>
              </a:rPr>
              <a:t>|</a:t>
            </a:r>
            <a:r>
              <a:rPr sz="1500">
                <a:solidFill>
                  <a:srgbClr val="1A1816"/>
                </a:solidFill>
                <a:latin typeface="Segoe UI Light"/>
              </a:rPr>
              <a:t>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80">
                <a:solidFill>
                  <a:srgbClr val="8A7F6F"/>
                </a:solidFill>
                <a:latin typeface="Segoe UI"/>
              </a:rPr>
              <a:t>OVER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>
                <a:solidFill>
                  <a:srgbClr val="1A1816"/>
                </a:solidFill>
                <a:latin typeface="Segoe UI Light"/>
              </a:rPr>
              <a:t>Try the prototype, then five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F1EEE8"/>
          </a:solidFill>
          <a:ln w="9525">
            <a:solidFill>
              <a:srgbClr val="F1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42032"/>
            <a:ext cx="43891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1" spc="120">
                <a:solidFill>
                  <a:srgbClr val="6E6455"/>
                </a:solidFill>
                <a:latin typeface="Segoe UI"/>
              </a:rPr>
              <a:t>WHAT TO DO IN THE PROTOTYPE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Sign in as owner — password hairline2026.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Ring up a sale on the Till and watch the timer.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Open a client and scroll eleven years of history.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Sign out, back in as karin, to see a stylist's view.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>
                <a:solidFill>
                  <a:srgbClr val="8A7F6F"/>
                </a:solidFill>
                <a:latin typeface="Segoe UI"/>
              </a:rPr>
              <a:t>—   </a:t>
            </a:r>
            <a:r>
              <a:rPr sz="1200">
                <a:solidFill>
                  <a:srgbClr val="3A362F"/>
                </a:solidFill>
                <a:latin typeface="Segoe UI"/>
              </a:rPr>
              <a:t>Count the drawer on Cash-up.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20">
                <a:solidFill>
                  <a:srgbClr val="8A7F6F"/>
                </a:solidFill>
                <a:latin typeface="Segoe UI"/>
              </a:rPr>
              <a:t>DECISIONS WE 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06040"/>
            <a:ext cx="4937760" cy="9525"/>
          </a:xfrm>
          <a:prstGeom prst="rect">
            <a:avLst/>
          </a:prstGeom>
          <a:solidFill>
            <a:srgbClr val="8A7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16"/>
                </a:solidFill>
                <a:latin typeface="Segoe UI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Keep “Hairline Salon Manager”?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27248"/>
            <a:ext cx="4937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18688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16"/>
                </a:solidFill>
                <a:latin typeface="Segoe UI"/>
              </a:rPr>
              <a:t>Price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18688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Confirm senior / junior levels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02736"/>
            <a:ext cx="4937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94176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16"/>
                </a:solidFill>
                <a:latin typeface="Segoe UI"/>
              </a:rPr>
              <a:t>Card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9417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Standalone, or integrated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78224"/>
            <a:ext cx="4937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69664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16"/>
                </a:solidFill>
                <a:latin typeface="Segoe UI"/>
              </a:rPr>
              <a:t>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9664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Register the salon number?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553712"/>
            <a:ext cx="4937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45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16"/>
                </a:solidFill>
                <a:latin typeface="Segoe UI"/>
              </a:rPr>
              <a:t>Diary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45152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From day one, or ease into it?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029200"/>
            <a:ext cx="4937760" cy="9525"/>
          </a:xfrm>
          <a:prstGeom prst="rect">
            <a:avLst/>
          </a:prstGeom>
          <a:solidFill>
            <a:srgbClr val="ED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7264"/>
                </a:solidFill>
                <a:latin typeface="Segoe UI"/>
              </a:rPr>
              <a:t>This plan is a conversation starter, not a contract. Everything in it can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2910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A7264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